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7" r:id="rId2"/>
    <p:sldId id="258" r:id="rId3"/>
    <p:sldId id="334" r:id="rId4"/>
    <p:sldId id="338" r:id="rId5"/>
    <p:sldId id="340" r:id="rId6"/>
    <p:sldId id="342" r:id="rId7"/>
    <p:sldId id="336" r:id="rId8"/>
    <p:sldId id="343" r:id="rId9"/>
    <p:sldId id="344" r:id="rId10"/>
    <p:sldId id="372" r:id="rId11"/>
    <p:sldId id="373" r:id="rId12"/>
    <p:sldId id="335" r:id="rId13"/>
    <p:sldId id="374" r:id="rId14"/>
    <p:sldId id="375" r:id="rId15"/>
    <p:sldId id="345" r:id="rId16"/>
    <p:sldId id="376" r:id="rId17"/>
    <p:sldId id="377" r:id="rId18"/>
    <p:sldId id="346" r:id="rId19"/>
    <p:sldId id="378" r:id="rId20"/>
    <p:sldId id="379" r:id="rId21"/>
    <p:sldId id="347" r:id="rId22"/>
    <p:sldId id="380" r:id="rId23"/>
    <p:sldId id="381" r:id="rId24"/>
    <p:sldId id="348" r:id="rId25"/>
    <p:sldId id="349" r:id="rId26"/>
    <p:sldId id="382" r:id="rId27"/>
    <p:sldId id="383" r:id="rId28"/>
    <p:sldId id="350" r:id="rId29"/>
    <p:sldId id="384" r:id="rId30"/>
    <p:sldId id="385" r:id="rId31"/>
    <p:sldId id="351" r:id="rId32"/>
    <p:sldId id="386" r:id="rId33"/>
    <p:sldId id="387" r:id="rId34"/>
    <p:sldId id="352" r:id="rId35"/>
    <p:sldId id="388" r:id="rId36"/>
    <p:sldId id="389" r:id="rId37"/>
    <p:sldId id="339" r:id="rId38"/>
    <p:sldId id="390" r:id="rId39"/>
    <p:sldId id="391" r:id="rId40"/>
    <p:sldId id="353" r:id="rId41"/>
    <p:sldId id="394" r:id="rId42"/>
    <p:sldId id="392" r:id="rId43"/>
    <p:sldId id="393" r:id="rId44"/>
    <p:sldId id="354" r:id="rId45"/>
    <p:sldId id="395" r:id="rId46"/>
    <p:sldId id="396" r:id="rId47"/>
    <p:sldId id="355" r:id="rId48"/>
    <p:sldId id="397" r:id="rId49"/>
    <p:sldId id="398" r:id="rId50"/>
    <p:sldId id="356" r:id="rId51"/>
    <p:sldId id="399" r:id="rId52"/>
    <p:sldId id="400" r:id="rId53"/>
    <p:sldId id="357" r:id="rId54"/>
    <p:sldId id="401" r:id="rId55"/>
    <p:sldId id="402" r:id="rId56"/>
    <p:sldId id="358" r:id="rId57"/>
    <p:sldId id="403" r:id="rId58"/>
    <p:sldId id="404" r:id="rId59"/>
    <p:sldId id="366" r:id="rId60"/>
    <p:sldId id="367" r:id="rId61"/>
    <p:sldId id="368" r:id="rId62"/>
    <p:sldId id="365" r:id="rId6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BA78C-C41A-4562-8881-828B8F467FAD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B4FCE-0762-426C-AD7B-6B4B3304D3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9007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6415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2755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1263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729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1884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0795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6027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337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D79E7-CF11-68B8-26EC-661FC5F1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D93A1B-0365-DA7E-F36F-F2D2C989B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01C9243-D23C-AAC3-D302-315F14FC6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0872EC-5387-E0D7-7958-53B6A34B6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355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39956-89D0-C97F-0D33-6492A614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943CB0E-C8FD-0750-86AB-F48E76623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8BE9CED-CEC1-D049-D841-A3611CB26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7A357A-E16A-0C23-15B5-526A0780B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5717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271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8A0AE-2EF5-8083-DD58-4F0D1B8F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417347-AF38-278C-37EC-F1EFD8494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53A8BB-40ED-DE51-7DA1-AEEB66192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88B57-C747-F497-FA98-4B93EB38C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0974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846B-90FE-B485-4645-37C0EBF0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0B0041-B850-7D73-9748-CD56258B0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EE0220-C02D-6F79-E5F8-3EDB8B3B5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971DA8-087F-F13C-D36E-C26410CCC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205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003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5E53-8AB0-1EA1-0FEB-B07C024B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701FB3C-A9F7-C50B-30CE-8CD5F9795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34CBA9-087F-64DA-5EFB-750E03164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867BBD-C168-5CC8-E797-A3E692399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1488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BBA9-81F2-7E09-78DF-10678FA3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FB9C01-DA12-889C-185C-EE147DD68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2BE91E-2DE1-3473-E423-D6AFDEB3B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79A9C0-0072-1AE9-4187-41B87A694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7914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955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A88D-C798-C926-799E-F16A101D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C3FBDD-BBEF-3B83-CAB9-8424762A6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550C19-7FD7-87A5-D72D-417A62308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68DB0E-7E6A-87AE-600D-9146111E6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4902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60E7-D384-F168-6414-3557F999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69CF0D-E75F-2BE4-8437-43F95E259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5F5A65-345D-2464-72CD-7AE9ECAF4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F71E88-9B2E-F99C-7F4D-C61FE3599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52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3815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CB74-C75F-CAA7-AD1E-2C7C06EF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7C91B6-15C5-980C-7DCC-CBF970BED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FCA8AC-0B7F-5F0B-160E-890E122F5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1149FA-6511-A856-1C45-99B15BCEA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544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DA57-54B7-1186-C00F-B70E8BE6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2A25BEE-3C92-CE2F-6035-4AAAD7B67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15907E-5CB7-DD8F-2A8F-18CCCD817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868968-F543-8123-6808-FD945FDC7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0302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6376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9578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EC8D-71EE-9B0E-09FE-4FA2A7E7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9AA3C3-1A2B-183A-52BA-6CA905F90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2D1831-B3C8-AB02-FA0E-7664E5C64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8DA088-CB66-89A4-3F41-030F35E09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43883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A5A2C-43C3-3B16-EFD5-019AEBFC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7DCCFA-4091-BE02-2B68-A5917B4EC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9D176B-423E-D57C-DBA6-D4E4731C6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0281CD-FE26-0057-9BDD-A334A5A1E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53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2103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B7F6-851E-58EF-D96E-0D0B0B8E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5EEB11-76A8-14E7-B2E0-DF6857427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CFE348-57DD-8764-2F7E-6D0F8A531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61FAF0-C0CE-1E80-53D1-A6F392A3B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9220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4FAB6-6757-E26C-18A8-A5CE8EB3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BCFBEA-5362-7646-F3EC-16AD8651E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938B55-DDC2-55C6-B887-7FE6B04B1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2A1786-08DD-3C0B-2434-8737FC581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310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604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B824-7775-D1A9-C71B-E32AF610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E092D41-8E40-993A-1401-9E8E100F6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5E5577-94C7-69DB-3AF1-2BE4C8B8D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3E2695-E9F6-BCCA-AD2A-B156EE72B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16725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9F2C-E5B2-7047-2B75-A1BB839F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E98C01-9C79-D718-5777-C8EA4DE4C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CBEB52-9B8A-C763-648F-795454AC8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131088-3030-21B0-27B0-514D72BEF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4856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5640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FFFB-7EBC-3A9B-4222-6F85E76F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365330-B9C1-6F74-BEDC-E21E9B15D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722864-1361-1EEC-65EA-35912A6CC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B4DA2B-3F49-AA6A-6390-F581C6B54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2328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29E75-3A1F-0461-320A-8E9ABC70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3BB65F-386C-9E44-232D-359C7675F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DBAF1A-1527-A328-A90F-C99AA13B7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903CC8-C27B-D32A-3523-6C5F76E6D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4647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7423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4A1A0-B909-6278-0AD5-95759C39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AFF89C-3561-0AC4-8F4A-ABDAB9185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DD242E-BB00-1A20-0A16-8DEADA0BC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B70B59-B6DC-4863-5C6D-8B0550F62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5902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3DA7-B9A8-893F-0788-5331AA2D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7E8CCE-E9A2-C131-0966-36D9A73EC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7B0313-E21C-FD5C-5DF3-21F6DBD93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FC7D3B-43AD-3B93-D9DA-1BD2E6D63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80708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70E9-4439-A09F-77C2-A736EA59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B69396-B386-DFE5-81DF-7C72DF4C8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93E579-C59E-6F47-9345-62AC25DEE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78F05A-6BBB-6C2E-F777-1F1400AE1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6903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50CC-22BE-A4C9-0C11-7D6CB2BA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0CF8F5-1DB5-5C7F-93BC-DDB959BD7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6FD546-54FA-8441-A473-65534A569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9DE0D5-E57F-470B-002B-A28E4A434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48876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3366B-F7CE-C913-445B-6EFD795D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946910A-2222-0A5D-9C3B-92A47F715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185B67-1433-377D-9CB4-5AF326D85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307C9C-0594-5FE8-98DF-C82E2BDB7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25204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44CA-7DBF-6BD8-E930-30486365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8800BE-3E1A-42BB-725C-9E494CF84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D2C5D6-7C4C-C81E-CAC6-3A27DCDE7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EDCE25-B931-5553-DB41-647006BEF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37622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0E49-A699-D1C0-E5B4-60233CE3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B0F506-0E96-0D0D-97D2-1BDB2ADD3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638467-25BC-DA86-9857-CBE303B8B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DBF1B3-6000-32BB-EC2E-E022CAAA3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87973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77D5-9CFA-92EB-B630-39D11A3B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FAF9C7-62CB-5E84-D92E-8826E3ED4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E3A739-F06C-B5B3-A8CF-9F0BAE50A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A0E95D-CCFF-3A10-82F1-39F0B1A36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91208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BA30-F4EF-75DC-72BD-93A764D5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46A542-73FB-AEFB-F2C7-E3C69C86C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7496BA-39A6-DC84-6B96-88DF2E430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497DD9-2F45-87D6-E387-732EC994E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08688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5BAE-3455-5E72-36C7-32F79C70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B8703C-84E0-0D53-5FF4-CD0A7D346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44FA4A-2597-EE7C-5136-84731379F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7DF963-0E4D-20D4-A3C1-16935D332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66822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36A65-4EFA-6B9A-C9CC-23B529F4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9E0AA8-A966-2FD1-34DB-DE7925237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8FF0D3-15FE-1DF8-D13B-8BBE472F7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2BF855-2D76-B43B-40A6-53B33A6F9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21567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5104-AD5D-08BE-95D9-34CBB79F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AD1E8C-E899-76D4-6133-3333C1499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F6180C-4472-A1AC-C017-C032B9AB5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EC9F3-74C0-91DC-A837-747E22B28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7158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4DC2-532A-ED66-AF3F-D5D29EEAD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9C26B5-CCF4-73AF-226C-A8CF21B93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F41F69-311D-17C0-5436-C0AAB18F3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3078DE-4DD8-CF8D-0BE7-4EFDD89F3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52835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9117-67F1-17BB-E26F-529D3A92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9BF210-9EC3-6830-2C1B-068B314C2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9096D4-15A8-5C0C-0A60-DF81C304C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8DFF28-A625-8003-9F57-7018130E3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43381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DD0F4-B57A-49B3-7BDF-732F735C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D305A2-FACF-7371-F814-7516F9FF9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7A2468-59E9-575B-3C1A-B7092742F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A5EDD2-4488-8880-3994-834EEE2E6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2489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C036-6FF8-B782-6815-09D53AE2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5D4ABF-F766-22C8-A23A-1758384CA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9D70EB-76DC-C631-76E9-A7B015077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143A13-F5DF-4644-031C-C274ACB53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2723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3DAD-F34B-17AA-701E-13ADEB4E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04BDAD-E1A5-A3BA-A5C3-B597558CF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9B8D3B4-A055-9E6D-990A-3BDFE0454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326D02-B633-C6D4-528F-A045B8D33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24893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609D3-F9ED-6C68-D312-CB8C775BB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0B3806-317E-8AE6-DBD1-353D184D3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FB8DA8-0BB9-82A7-A5FE-6F191568C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3BEE53-4F49-908F-F0D2-179BC0EC5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31887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82D34-8716-65D9-C1DA-567CCD5B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8F9AA2-324D-4A3F-1944-A840795BC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BBD27E-5F92-D2F9-2670-A9772C128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368F53-23AC-2D6F-BC50-9DBB233AD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4852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7FA62-D6A6-5F92-5D79-AD8BC696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A0588B-1EC1-6352-D767-B659732AC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0F5F0A-B3C4-1465-7ADF-B350B9335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DF61E-6CBC-1FC1-306C-531EFA969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8266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EDE6-E7CF-B236-20EE-BD07FDF65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FC0C752-723C-BB4A-3FB2-3D9BC9D0F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3B2BB3-353A-1E0A-EA02-C61F92CCB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B07F17-032C-4E0B-2546-FB9E6CE18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83568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5FE8-06A7-0725-B50A-FEAF7745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2F02A7-EE85-6BD9-687D-B4F8329A1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4D1616-CB6D-606F-3967-457DCA8E1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998A6-9063-2717-1432-56EA6B006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646290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B396-FC94-55CD-90B4-5722B0E5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65E0A3-13BB-D67D-E571-6EBDF7F33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440FB7-5270-2960-2C32-3C202C654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E6D296-56EB-D36B-34C2-4C770F06D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70549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85CEC-2204-863A-B7AE-0F6846F2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6480A6-5A91-D13E-C336-4AA081C4D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6791C5-4A99-DBC5-E6C5-4FD9FB06D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D77C5B-1908-2E54-3380-6ECE2472A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1080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3B6F5-A58C-E4DB-0F8D-773DF9B3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B4D00A-E32F-8D41-1956-8CCF996FD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C06495-F7BA-9E65-C30F-A88748C51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434637-05F3-8477-4E79-436B946B4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1F753-BD5F-4BF8-8593-B6D010AC4423}" type="slidenum">
              <a:rPr lang="es-ES" smtClean="0"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1254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FEEDA-71A9-E32F-579F-79F6DD839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FD4682-A13F-3129-5622-CE0E93AE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D80C2C-FE03-D014-5884-52B81DFA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4D93F-0662-FAB6-96F3-1C9C9A07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D24484-06B2-7D17-3A75-33A3B4B5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5892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146CB-F137-6750-7BCD-4B198D85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FE9C92-BA8B-19A2-B940-928A9A1AC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E65409-39BB-D091-D737-A7759E59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FD0E47-FEFC-DFCD-C564-7D52D40E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7D8FF1-AA32-7A4A-A5B8-E37357D5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58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E8915-AEDD-1DFD-0C79-CA32710A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E409A9-55EF-38EA-A6CB-95B045B7B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FB6AA-6B01-D287-B687-5EC0E6FE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46E09D-5490-1C06-BFF8-7D9D7C85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8D28CC-BAFC-147E-A9F7-76C8640A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196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C92C4-4575-550F-CCC1-574163EA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CDE974-41AB-C7A3-DCAA-61B914927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D6EBA9-5E05-AD66-9D55-A49CC1D5C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A1061A-B1B6-1CBD-1745-24607533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6DA0C2-8FF6-56F8-C78F-001FF283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684958-DD9C-575F-0B6C-06895D2E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197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04FFD-1930-B37B-6849-0455C26F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33EE4B-53B5-01C4-DA73-A502BA98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940988-8CC4-4E48-6A9D-2D5DFE0C6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06CD3-152A-F35F-E361-F9289A45C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384669-B1F9-CF27-3FF9-784C2D45D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6F1680-D3B6-BD21-8D77-F6D69236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BF0EB0-AAA0-3D2B-2FCC-19C5F5FA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4FF97DD-1FC3-E357-95E1-9EA8D10D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6230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EFC00-E916-91C1-B826-05AFC62F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ADA1B4-87FF-E60C-7530-451C43D3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FABEFF-8E67-EF95-9834-8FDD73CB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193AE6-13C1-FF1D-D46A-FF22ED0F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18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7E75DD-08F5-E5BF-ABC8-3F6677B2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069CDE-742A-54D9-D2C1-719A7C2A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9235A2-2BBB-F907-5653-29C6E29E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842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C0538-2FA0-4DC1-2E85-E7BE7A0D1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E0A7E9-2B2C-F4DD-7E7C-F06AEBD1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76917A-67BB-1879-3216-CBE51977C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030F66-1DB9-E481-FB16-78313B74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0AC02A-8C95-D9E6-F253-FEB3EE06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476241-117A-F55F-9750-AE3DB28B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328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0DD10-3E1D-1519-465B-15030ECA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67FD520-E430-941B-9838-414E79258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FF5ABD-EEEB-9642-B14A-EA70518B3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377BAE-12AF-AE92-BF17-92EAD24E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60BF7F-6060-AEDE-4749-3E48C4D7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435A81-CD86-4CC9-C8C3-BBD79AA1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390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6D851-3E9F-C242-824C-126C17AC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B8B14E-7D65-3256-3FF3-8896390D9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AF5827-7030-CF81-87FE-465FF886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C32985-968C-8E2A-2441-2C3FB385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07AB6B-933F-CF4C-A40A-1AB16B85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77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6D52CA-4F55-24C0-3CFF-E6DE3BF93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152E68-B890-D76E-44DB-30D06F97D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789FB1-D687-E6B2-C64D-E8A258E5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AB4841-6B3A-576F-5D0C-BA759623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C64B6D-9068-B916-CB9A-A7065998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78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562A33-403A-F090-E9CB-76A18B43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866161-62C7-06BA-F2BA-571F6199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BD9047-AAF8-AD5B-141E-ECE7C8B3F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965F1-BA76-4256-814B-3CAC2C4F420E}" type="datetimeFigureOut">
              <a:rPr lang="es-ES" smtClean="0"/>
              <a:t>11/07/2026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E58D5-7D7A-ED4F-E0C6-269085945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1116E5-91A2-33B9-FEB0-2EAF916DB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F769A-781F-4996-B38C-214A2EE2AB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923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4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643" y="0"/>
            <a:ext cx="3521964" cy="6857999"/>
          </a:xfrm>
          <a:prstGeom prst="rect">
            <a:avLst/>
          </a:prstGeom>
        </p:spPr>
      </p:pic>
      <p:sp>
        <p:nvSpPr>
          <p:cNvPr id="8" name="object 1"/>
          <p:cNvSpPr/>
          <p:nvPr/>
        </p:nvSpPr>
        <p:spPr>
          <a:xfrm>
            <a:off x="9140952" y="505510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527"/>
                  <a:pt x="25527" y="0"/>
                  <a:pt x="57150" y="0"/>
                </a:cubicBezTo>
                <a:cubicBezTo>
                  <a:pt x="88773" y="0"/>
                  <a:pt x="114300" y="25527"/>
                  <a:pt x="114300" y="57150"/>
                </a:cubicBezTo>
                <a:cubicBezTo>
                  <a:pt x="114300" y="88773"/>
                  <a:pt x="88773" y="114300"/>
                  <a:pt x="57150" y="114300"/>
                </a:cubicBezTo>
                <a:cubicBezTo>
                  <a:pt x="25527" y="114300"/>
                  <a:pt x="0" y="88773"/>
                  <a:pt x="0" y="57150"/>
                </a:cubicBezTo>
                <a:close/>
              </a:path>
            </a:pathLst>
          </a:custGeom>
          <a:solidFill>
            <a:srgbClr val="B2606E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9" name="object 2"/>
          <p:cNvSpPr/>
          <p:nvPr/>
        </p:nvSpPr>
        <p:spPr>
          <a:xfrm>
            <a:off x="9328404" y="505510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527"/>
                  <a:pt x="25527" y="0"/>
                  <a:pt x="57150" y="0"/>
                </a:cubicBezTo>
                <a:cubicBezTo>
                  <a:pt x="88773" y="0"/>
                  <a:pt x="114300" y="25527"/>
                  <a:pt x="114300" y="57150"/>
                </a:cubicBezTo>
                <a:cubicBezTo>
                  <a:pt x="114300" y="88773"/>
                  <a:pt x="88773" y="114300"/>
                  <a:pt x="57150" y="114300"/>
                </a:cubicBezTo>
                <a:cubicBezTo>
                  <a:pt x="25527" y="114300"/>
                  <a:pt x="0" y="88773"/>
                  <a:pt x="0" y="57150"/>
                </a:cubicBezTo>
                <a:close/>
              </a:path>
            </a:pathLst>
          </a:custGeom>
          <a:solidFill>
            <a:srgbClr val="B2606E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10" name="object 3"/>
          <p:cNvSpPr/>
          <p:nvPr/>
        </p:nvSpPr>
        <p:spPr>
          <a:xfrm>
            <a:off x="9514332" y="505510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527"/>
                  <a:pt x="25527" y="0"/>
                  <a:pt x="57150" y="0"/>
                </a:cubicBezTo>
                <a:cubicBezTo>
                  <a:pt x="88773" y="0"/>
                  <a:pt x="114300" y="25527"/>
                  <a:pt x="114300" y="57150"/>
                </a:cubicBezTo>
                <a:cubicBezTo>
                  <a:pt x="114300" y="88773"/>
                  <a:pt x="88773" y="114300"/>
                  <a:pt x="57150" y="114300"/>
                </a:cubicBezTo>
                <a:cubicBezTo>
                  <a:pt x="25527" y="114300"/>
                  <a:pt x="0" y="88773"/>
                  <a:pt x="0" y="57150"/>
                </a:cubicBezTo>
                <a:close/>
              </a:path>
            </a:pathLst>
          </a:custGeom>
          <a:solidFill>
            <a:srgbClr val="B2606E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11" name="object 4"/>
          <p:cNvSpPr/>
          <p:nvPr/>
        </p:nvSpPr>
        <p:spPr>
          <a:xfrm>
            <a:off x="9701784" y="505510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527"/>
                  <a:pt x="25527" y="0"/>
                  <a:pt x="57150" y="0"/>
                </a:cubicBezTo>
                <a:cubicBezTo>
                  <a:pt x="88773" y="0"/>
                  <a:pt x="114300" y="25527"/>
                  <a:pt x="114300" y="57150"/>
                </a:cubicBezTo>
                <a:cubicBezTo>
                  <a:pt x="114300" y="88773"/>
                  <a:pt x="88773" y="114300"/>
                  <a:pt x="57150" y="114300"/>
                </a:cubicBezTo>
                <a:cubicBezTo>
                  <a:pt x="25527" y="114300"/>
                  <a:pt x="0" y="88773"/>
                  <a:pt x="0" y="57150"/>
                </a:cubicBezTo>
                <a:close/>
              </a:path>
            </a:pathLst>
          </a:custGeom>
          <a:solidFill>
            <a:srgbClr val="B2606E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pic>
        <p:nvPicPr>
          <p:cNvPr id="5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676643" cy="6858000"/>
          </a:xfrm>
          <a:prstGeom prst="rect">
            <a:avLst/>
          </a:prstGeom>
        </p:spPr>
      </p:pic>
      <p:sp>
        <p:nvSpPr>
          <p:cNvPr id="12" name="text 1"/>
          <p:cNvSpPr txBox="1"/>
          <p:nvPr/>
        </p:nvSpPr>
        <p:spPr>
          <a:xfrm>
            <a:off x="6402640" y="2074782"/>
            <a:ext cx="5476623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532" algn="ctr">
              <a:lnSpc>
                <a:spcPct val="100000"/>
              </a:lnSpc>
            </a:pPr>
            <a:r>
              <a:rPr lang="en-US" sz="4400" noProof="0" dirty="0"/>
              <a:t>Software Engineering: Development Methodologies 5</a:t>
            </a:r>
            <a:endParaRPr lang="en-US" sz="4400" noProof="0" dirty="0">
              <a:latin typeface="Corbel"/>
              <a:cs typeface="Corbel"/>
            </a:endParaRPr>
          </a:p>
          <a:p>
            <a:pPr marL="454532" algn="ctr">
              <a:lnSpc>
                <a:spcPct val="100000"/>
              </a:lnSpc>
            </a:pPr>
            <a:endParaRPr lang="en-US" sz="4400" noProof="0" dirty="0">
              <a:latin typeface="Corbel"/>
              <a:cs typeface="Corbel"/>
            </a:endParaRP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04204" cy="6857999"/>
          </a:xfrm>
          <a:prstGeom prst="rect">
            <a:avLst/>
          </a:prstGeom>
        </p:spPr>
      </p:pic>
      <p:pic>
        <p:nvPicPr>
          <p:cNvPr id="7" name="Im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48" y="0"/>
            <a:ext cx="322326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11933" cy="15270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6769545" cy="135421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Software Design Patterns: </a:t>
            </a:r>
          </a:p>
          <a:p>
            <a:r>
              <a:rPr lang="en-US" sz="4400" noProof="0" dirty="0"/>
              <a:t>Mastering Reusable Solutions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31360" y="1871988"/>
            <a:ext cx="8174895" cy="240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600" noProof="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Objective</a:t>
            </a:r>
            <a:r>
              <a:rPr lang="en-US" sz="3200" noProof="0" dirty="0"/>
              <a:t>: Understand the conceptual foundation and practical application of design patterns.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04B1F0-95ED-F0AE-0DC4-95A05388A0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402" y="3574813"/>
            <a:ext cx="5686425" cy="31908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3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5875134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What is a Design Pattern?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499873" y="1374717"/>
            <a:ext cx="8712222" cy="5426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A formal solution to a recurring problem in software design.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Definition</a:t>
            </a:r>
            <a:r>
              <a:rPr lang="en-US" sz="3200" noProof="0" dirty="0"/>
              <a:t>: A description of communicating objects and classes that are customized to solve a general design problem in a particular context.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Key Insight</a:t>
            </a:r>
            <a:r>
              <a:rPr lang="en-US" sz="3200" noProof="0" dirty="0"/>
              <a:t>: Patterns are not code; they are templates for how to solve a problem that can be used in many different situations.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200" kern="10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5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4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4145879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History and Origin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633374" y="1170672"/>
            <a:ext cx="7956149" cy="472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noProof="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Inspired by Christopher Alexander’s architectural patterns.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The "</a:t>
            </a:r>
            <a:r>
              <a:rPr lang="en-US" sz="3200" b="1" noProof="0" dirty="0"/>
              <a:t>Gang of Four</a:t>
            </a:r>
            <a:r>
              <a:rPr lang="en-US" sz="3200" noProof="0" dirty="0"/>
              <a:t>" (</a:t>
            </a:r>
            <a:r>
              <a:rPr lang="en-US" sz="3200" noProof="0" dirty="0" err="1"/>
              <a:t>GoF</a:t>
            </a:r>
            <a:r>
              <a:rPr lang="en-US" sz="3200" noProof="0" dirty="0"/>
              <a:t>): Erich Gamma, Richard Helm, Ralph Johnson, and John </a:t>
            </a:r>
            <a:r>
              <a:rPr lang="en-US" sz="3200" noProof="0" dirty="0" err="1"/>
              <a:t>Vlissides</a:t>
            </a:r>
            <a:r>
              <a:rPr lang="en-US" sz="3200" noProof="0" dirty="0"/>
              <a:t> (1994).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Design Patterns: Elements of Reusable Object-Oriented Software.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200" noProof="0" dirty="0"/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322D46-7183-55FB-A101-1CE9A0C02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243" y="1568839"/>
            <a:ext cx="3806757" cy="528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08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5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6545253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Anatomy of a Design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7707967" cy="49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marL="342900" lvl="0" indent="-342900">
              <a:buFont typeface="+mj-lt"/>
              <a:buAutoNum type="arabicPeriod"/>
            </a:pPr>
            <a:r>
              <a:rPr lang="en-US" sz="3200" b="1" noProof="0" dirty="0"/>
              <a:t>Name:</a:t>
            </a:r>
            <a:r>
              <a:rPr lang="en-US" sz="3200" noProof="0" dirty="0"/>
              <a:t> Provides a vocabulary for designers.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3200" b="1" noProof="0" dirty="0"/>
              <a:t>Problem:</a:t>
            </a:r>
            <a:r>
              <a:rPr lang="en-US" sz="3200" noProof="0" dirty="0"/>
              <a:t> When to apply the pattern.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3200" b="1" noProof="0" dirty="0"/>
              <a:t>Solution:</a:t>
            </a:r>
            <a:r>
              <a:rPr lang="en-US" sz="3200" noProof="0" dirty="0"/>
              <a:t> The elements that make up the design, their relationships, and collaborations.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3200" b="1" noProof="0" dirty="0"/>
              <a:t>Consequences:</a:t>
            </a:r>
            <a:r>
              <a:rPr lang="en-US" sz="3200" noProof="0" dirty="0"/>
              <a:t> Results and trade-offs of applying the pattern.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noProof="0" dirty="0"/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42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6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5999784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Why Use Design Patterns?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472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b="0" i="0" u="none" strike="noStrike" baseline="0" noProof="0" dirty="0"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Reuse</a:t>
            </a:r>
            <a:r>
              <a:rPr lang="en-US" sz="3200" noProof="0" dirty="0"/>
              <a:t>: Avoid reinventing the wheel.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Communication</a:t>
            </a:r>
            <a:r>
              <a:rPr lang="en-US" sz="3200" noProof="0" dirty="0"/>
              <a:t>: Shared terminology for developers.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Quality</a:t>
            </a:r>
            <a:r>
              <a:rPr lang="en-US" sz="3200" noProof="0" dirty="0"/>
              <a:t>: Proven solutions lead to more robust systems.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Maintainability</a:t>
            </a:r>
            <a:r>
              <a:rPr lang="en-US" sz="3200" noProof="0" dirty="0"/>
              <a:t>: Easier to refactor and evolve systems designed with standard patterns.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200" noProof="0" dirty="0"/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12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284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7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9517349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Categorizing Patterns (The </a:t>
            </a:r>
            <a:r>
              <a:rPr lang="en-US" sz="4400" noProof="0" dirty="0" err="1"/>
              <a:t>GoF</a:t>
            </a:r>
            <a:r>
              <a:rPr lang="en-US" sz="4400" noProof="0" dirty="0"/>
              <a:t> approach)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202688" y="1067869"/>
            <a:ext cx="9264194" cy="2760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D4125C3-BFE3-FAE5-85D8-C0DBB8D7D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14" y="1200875"/>
            <a:ext cx="11084253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Creational: </a:t>
            </a:r>
            <a:r>
              <a:rPr lang="en-US" sz="3200" noProof="0" dirty="0"/>
              <a:t>Focus on object creation mechanisms.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Structural: </a:t>
            </a:r>
            <a:r>
              <a:rPr lang="en-US" sz="3200" noProof="0" dirty="0"/>
              <a:t>Focus on object composition and class structure.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Behavioral: </a:t>
            </a:r>
            <a:r>
              <a:rPr lang="en-US" sz="3200" noProof="0" dirty="0"/>
              <a:t>Focus on communication and responsibility</a:t>
            </a:r>
          </a:p>
          <a:p>
            <a:pPr lvl="1"/>
            <a:r>
              <a:rPr lang="en-US" sz="3200" noProof="0" dirty="0"/>
              <a:t>			 assignment between objects.</a:t>
            </a:r>
          </a:p>
        </p:txBody>
      </p:sp>
    </p:spTree>
    <p:extLst>
      <p:ext uri="{BB962C8B-B14F-4D97-AF65-F5344CB8AC3E}">
        <p14:creationId xmlns:p14="http://schemas.microsoft.com/office/powerpoint/2010/main" val="2811482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772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8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6836102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Creational Patterns: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4B618F-CF2E-0B32-535E-55A7053E0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57" y="1436937"/>
            <a:ext cx="1106035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endParaRPr lang="en-US" sz="3600" noProof="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Goal: Abstract the instantiation process.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Make a system independent of how its objects are created, composed, and represented.</a:t>
            </a:r>
          </a:p>
        </p:txBody>
      </p:sp>
    </p:spTree>
    <p:extLst>
      <p:ext uri="{BB962C8B-B14F-4D97-AF65-F5344CB8AC3E}">
        <p14:creationId xmlns:p14="http://schemas.microsoft.com/office/powerpoint/2010/main" val="314512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3949864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Singleton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0" y="1248257"/>
            <a:ext cx="10429961" cy="4828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b="0" i="0" u="none" strike="noStrike" baseline="0" noProof="0" dirty="0"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Ensure a class has only one instance and provide a global point of access.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Solution: </a:t>
            </a:r>
            <a:r>
              <a:rPr lang="en-US" sz="3200" noProof="0" dirty="0"/>
              <a:t>Private constructor, static instance variable, and </a:t>
            </a:r>
            <a:r>
              <a:rPr lang="en-US" sz="3200" noProof="0" dirty="0" err="1"/>
              <a:t>getInstance</a:t>
            </a:r>
            <a:r>
              <a:rPr lang="en-US" sz="3200" noProof="0" dirty="0"/>
              <a:t>() method.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Use case: </a:t>
            </a:r>
            <a:r>
              <a:rPr lang="en-US" sz="3200" noProof="0" dirty="0"/>
              <a:t>Configuration managers, logging services.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b="1" noProof="0" dirty="0"/>
          </a:p>
          <a:p>
            <a:r>
              <a:rPr lang="en-US" sz="1800" b="0" i="0" u="none" strike="noStrike" baseline="0" noProof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noProof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949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6F18-7C1B-64CC-7AB7-B8083F90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F1FF6ECE-956D-E277-53B4-91CAB8E62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A86C4D4F-6FC7-2FFC-E4A0-45E73EF1B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37820495-D87E-C9D9-7AB6-C681A008C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3F19E15-B9CA-EB4D-CC1A-994A12AE4E25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62825CD-BE71-B08F-C38B-60D4DA01A7CB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514C86-4EE4-FD68-0F78-FCF4BEED6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3702" y="92023"/>
            <a:ext cx="8938098" cy="621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4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05C0-4932-0C26-0A88-53F483B7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B856CB49-10B9-2F94-85A8-E5B52EB52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119050FF-3D2E-0FF7-767D-6A4EB9ECC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7BDFECB2-EB3D-F507-43F5-1781EC7CD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BC6D98B-5739-5BC7-49D8-7CD77EA491D1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74AF3D4-17F7-6341-6C32-AC2318B0DA24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0A7262-73ED-C6CB-77F2-8C3D1E78E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155" y="505838"/>
            <a:ext cx="10871621" cy="40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79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10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3659592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Factory Method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410308" cy="4021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600" noProof="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Define an interface for creating an object, but let subclasses decide which class to instantiate.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Benefits: </a:t>
            </a:r>
            <a:r>
              <a:rPr lang="en-US" sz="3200" noProof="0" dirty="0"/>
              <a:t>Decouples the creator from the specific product.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200" noProof="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07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901A-E4EF-08CE-B8BD-F2CFF8EB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E87E3304-25EF-0DE1-09C2-45D38AF05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3A5611C6-7BF3-A6CC-30C3-36495F43C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A258A008-A595-6A9B-DDA8-046F1B8DC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4643CAA-A638-E46B-E8ED-D7EC0D09979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683D6E84-7C4D-FB65-53FA-DB95AD1092FF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584954-B420-A693-D108-26B4CE6CE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1250" y="35462"/>
            <a:ext cx="8850549" cy="668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8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A973-12BA-2580-F99A-3B3BD8E2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89C56F06-0928-5243-C20C-4009E69E1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D0E7E75A-27CD-E6A2-CF05-7F7882AB1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2EFEF070-8404-3306-48AF-99964B1E47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F631E2B-71E7-CD84-378F-4AD829C9B96B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50FFED8-E599-D263-4127-321E796D9C44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F7C507-341C-47DD-C3D4-DA623BCFA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53" y="1556427"/>
            <a:ext cx="11037950" cy="247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2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11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3728521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Abstract Factory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5100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Provide an interface for creating families of related or dependent objects without specifying their concrete classes.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Context: </a:t>
            </a:r>
            <a:r>
              <a:rPr lang="en-US" sz="3200" noProof="0" dirty="0"/>
              <a:t>UI Toolkits (e.g., buttons and scrollbars for both Windows and Mac).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b="1" noProof="0" dirty="0"/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600" noProof="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>
                <a:solidFill>
                  <a:srgbClr val="333333"/>
                </a:solidFill>
                <a:latin typeface="Helvetica Neue"/>
              </a:rPr>
              <a:t> </a:t>
            </a:r>
            <a:endParaRPr lang="en-US" b="0" i="0" noProof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97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86F2-F4EB-44BD-C019-EA298D97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317EE59E-B3F0-26E7-84DF-21EE47C40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08185D0D-6603-7A28-D551-B948503AD3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4C41E1B6-8C06-91D3-F4F8-3E15707C1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1630558-B74F-B51A-ED9F-C92E0926B354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E670473-7A73-D899-12F5-B71C1E5D8B27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0E82A1-A831-B2AC-5583-CFBB1161C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69" y="29148"/>
            <a:ext cx="10759179" cy="674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45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CAA0-A689-8217-9D2A-14805F57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F82A0C83-E3DA-AF38-35A5-AC1B47847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550932FE-E556-FB19-FCD7-75D5A6517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C391E63A-6F90-C692-713F-8DA3DA83AB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793C4C70-F08E-174A-8505-A5ADD0E0BB3C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564E071-6C82-BF54-F0E5-C359979E86F7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A1FC4F-FEC6-3EDE-1E1C-9DE7F31901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552" y="1138136"/>
            <a:ext cx="7432911" cy="369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70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12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3448636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Builder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535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Separate the construction of a complex object from its representation.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Benefit: </a:t>
            </a:r>
            <a:r>
              <a:rPr lang="en-US" sz="3200" noProof="0" dirty="0"/>
              <a:t>Allows the same construction process to create different representations (e.g., building complex SQL queries).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noProof="0" dirty="0"/>
          </a:p>
          <a:p>
            <a:r>
              <a:rPr lang="en-US" sz="1800" b="0" i="1" u="none" strike="noStrike" baseline="0" noProof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b="0" i="0" noProof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>
                <a:solidFill>
                  <a:srgbClr val="333333"/>
                </a:solidFill>
                <a:latin typeface="Helvetica Neue"/>
              </a:rPr>
              <a:t> </a:t>
            </a:r>
            <a:endParaRPr lang="en-US" b="0" i="0" noProof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48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D9344-E280-590F-CAD4-3151E736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F2027104-676E-B402-3DA4-18A9B7FC7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05BC1580-2DCA-8FFE-BCE2-F16FFD9D7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6B07FDEA-BD66-2F53-98D2-1B4B4524B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0875FA8-6918-AE08-CF33-1F7899A319C7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DA1B12B-6500-4B3D-880D-E2251BD6AD96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975D25-6209-325F-EB95-2A4F56BED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906" y="18477"/>
            <a:ext cx="7782128" cy="679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19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AAD3-5EDC-CC87-F5D8-92A1D6C4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53F1875B-15A6-61F0-7058-9D8E695F9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B7A03D18-334D-F4C2-964F-E2D3CF460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13F635F2-667F-0D90-C3F2-0270771963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F42798D-A607-605B-085F-3EC0BFF08E1F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1569F77-AEDD-3BBD-B275-0D6677F4CE9B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740F12-DE9D-6D5D-994E-FEE15B7A6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956" y="1760707"/>
            <a:ext cx="7201811" cy="375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80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13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1088008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noProof="0" dirty="0"/>
              <a:t>Prototype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4650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Create new objects by cloning an existing instance.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Use case: </a:t>
            </a:r>
            <a:r>
              <a:rPr lang="en-US" sz="3200" noProof="0" dirty="0"/>
              <a:t>When creation is costly or complex.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noProof="0" dirty="0"/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b="0" i="0" noProof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>
                <a:solidFill>
                  <a:srgbClr val="333333"/>
                </a:solidFill>
                <a:latin typeface="Helvetica Neue"/>
              </a:rPr>
              <a:t> </a:t>
            </a:r>
            <a:endParaRPr lang="en-US" b="0" i="0" noProof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742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22B5-20F8-F5C2-DB59-7355284C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9A28E2D8-A9DA-9A7C-1299-CCB0D574E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DE882D76-94CB-E75B-7D37-677782E83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D9C5C01B-EA04-FBFF-8BEC-6492812603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6CCC6A6-3661-898C-9405-59D31868E09D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D070581-3862-8DF0-2E2F-86C991510657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05F266-DCBC-0C5C-348D-F7FE3C13D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66" y="18718"/>
            <a:ext cx="8859071" cy="683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27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B13C-9092-D99B-87A9-F50DCF1E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0506C608-CF6B-4CC6-9F1B-0B68D4E68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443B8829-D163-D9F4-C760-6C9C1D456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6C748E46-1F1D-682E-3639-FB74F50BB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11A9526-941F-B9F8-7746-1034B58613F3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22F38A6-3765-E72A-B7CD-BF543EA407F7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93A661-BA0D-76D2-2FE7-EE0E777D0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743" y="1867711"/>
            <a:ext cx="8787227" cy="355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2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14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6854890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Structural Patterns: Overview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b="1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b="1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Goal: </a:t>
            </a:r>
            <a:r>
              <a:rPr lang="en-US" sz="3200" noProof="0" dirty="0"/>
              <a:t>How classes and objects are composed to form larger structures.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Focus on simplifying relationships between entities.</a:t>
            </a:r>
          </a:p>
          <a:p>
            <a:pPr lvl="0"/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1769525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3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3661259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Adapter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Allow incompatible interfaces to work together.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Mechanism: </a:t>
            </a:r>
            <a:r>
              <a:rPr lang="en-US" sz="3200" noProof="0" dirty="0"/>
              <a:t>Wraps an existing class with a new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748349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E860-49D1-D36F-FE19-0F707F9E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E0DC3F1A-6F5B-0210-FE13-126C99BFA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279884EA-B548-1660-E446-4CFD13DC7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0D944901-91A0-3462-9206-26892720D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D3DE42E-5FEB-BE34-D364-3CCFEB176B0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DFB91D3-41A0-5B74-57FA-D60BAF44D3C0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C2715C-42DA-9654-9A4A-FBA3EF079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76" y="33792"/>
            <a:ext cx="9188826" cy="68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16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41A23-A1A8-CCDE-F9FF-436709D0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B0F665AE-8228-2AB3-0DF0-02228666E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4B4B9680-1385-6ACC-92D2-44037C3CD9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2BD82A43-B768-4953-F309-6F578767E3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8B2F4C4F-E823-C069-D9B8-B2FA2A5CA9D5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AC20434-757B-94F7-FAFE-11DDF8E39F25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C99799-2EBC-0D73-0800-6C013CEB6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6229" y="1315762"/>
            <a:ext cx="8980318" cy="355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66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16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8841366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noProof="0" dirty="0"/>
              <a:t>Composite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3234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b="0" i="0" noProof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>
                <a:solidFill>
                  <a:srgbClr val="333333"/>
                </a:solidFill>
                <a:latin typeface="Helvetica Neue"/>
              </a:rPr>
              <a:t> </a:t>
            </a:r>
            <a:endParaRPr lang="en-US" b="0" i="0" noProof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noProof="0" dirty="0">
              <a:solidFill>
                <a:srgbClr val="2021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0B0F77-4DCC-0E1A-6B49-D97DF6A97A26}"/>
              </a:ext>
            </a:extLst>
          </p:cNvPr>
          <p:cNvSpPr txBox="1"/>
          <p:nvPr/>
        </p:nvSpPr>
        <p:spPr>
          <a:xfrm>
            <a:off x="421960" y="1332047"/>
            <a:ext cx="926419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endParaRPr lang="en-US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Compose objects into tree structures to represent part-whole hierarchies.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Effect: </a:t>
            </a:r>
            <a:r>
              <a:rPr lang="en-US" sz="3200" noProof="0" dirty="0"/>
              <a:t>Clients treat individual objects and compositions uniformly.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2757286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01263-1B81-F56C-B741-7B51EFB1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A2C43F0C-4073-DD1D-9A6E-D2AE03114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513D3E6B-5526-73A2-3181-AB66AD97B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3C0B4E8C-9D36-CB83-3E8D-6BFCD796D9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0F4B2CA-5863-A665-B70F-E32B2467154B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82B49DA-936D-CB9D-AD3A-BB7CF994F8CE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C1F450F-678B-7869-C089-5742D1872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786" y="-2775"/>
            <a:ext cx="6698891" cy="686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23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22B0D-87B4-469F-BC52-61C3FBA83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52F99793-FFFC-C4AB-DD84-FF3389E33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0415ADE2-7A56-3222-C0D1-3F30825152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D3D7F151-AAAD-B217-DB95-FA95763757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C67A900-8752-A1BE-E63B-7FE0104BF6C0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5E9C677-2093-836B-8D29-5535F5546D62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EC9D6B-CA0F-C125-D8B1-07FF1B165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060" y="1596143"/>
            <a:ext cx="8005578" cy="449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44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17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4102918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Decorator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600" noProof="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Attach additional responsibilities to an object dynamically.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Advantage: </a:t>
            </a:r>
            <a:r>
              <a:rPr lang="en-US" sz="3200" noProof="0" dirty="0"/>
              <a:t>Flexible alternative to subclassing for extending functionality.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600" noProof="0" dirty="0"/>
          </a:p>
        </p:txBody>
      </p:sp>
    </p:spTree>
    <p:extLst>
      <p:ext uri="{BB962C8B-B14F-4D97-AF65-F5344CB8AC3E}">
        <p14:creationId xmlns:p14="http://schemas.microsoft.com/office/powerpoint/2010/main" val="85957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A8D2-72CB-AD1A-DB60-E9683614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AA632044-4422-7024-405B-D08CD4FAA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177737C7-CB40-5118-57D4-A2622F6598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389550FB-A4B8-FC32-32A9-909AEDE977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69F250F-B2D6-EE78-EACF-B505B79B617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37386EA-B501-150A-4AAC-F7F668A37481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2BC896-1B44-5C2F-DBA0-8F02755B8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01" y="13967"/>
            <a:ext cx="9717647" cy="684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66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F2E3-205C-7DD5-265C-7D24D7EB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A9007F64-4C4A-BD7D-EA5B-EE2108463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C53BCB86-3012-4231-23F6-A688502BF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F78966F-3A7F-1D33-0ECB-AF6321B3CC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4754C32-F3BC-8329-3D05-57DF7C055D8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605E058-FA6A-CDE3-F390-1CD1E322D474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9033E3-5485-8014-07E1-11B40B961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160" y="2033082"/>
            <a:ext cx="9962951" cy="329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42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18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3409588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Facade Pattern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F9D55A-B2CB-68B0-67FB-9523E9ADD1B4}"/>
              </a:ext>
            </a:extLst>
          </p:cNvPr>
          <p:cNvSpPr txBox="1"/>
          <p:nvPr/>
        </p:nvSpPr>
        <p:spPr>
          <a:xfrm>
            <a:off x="570271" y="1248257"/>
            <a:ext cx="92641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Provide a unified interface to a set of interfaces in a subsystem.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Goal: </a:t>
            </a:r>
            <a:r>
              <a:rPr lang="en-US" sz="3200" noProof="0" dirty="0"/>
              <a:t>Reduce complexity by providing a "front" to a complicated system.</a:t>
            </a:r>
          </a:p>
        </p:txBody>
      </p:sp>
    </p:spTree>
    <p:extLst>
      <p:ext uri="{BB962C8B-B14F-4D97-AF65-F5344CB8AC3E}">
        <p14:creationId xmlns:p14="http://schemas.microsoft.com/office/powerpoint/2010/main" val="92005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7E72-2D2D-DBD8-2E68-B88D31F3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83E7156D-2660-BB7F-04A8-790A875EC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EF4D4349-7176-C6ED-9EA2-416F6A41E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12F9E448-4C83-56F3-4BFF-F3BB42EB6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29C02CA-9A62-5E85-9A91-F3504DC79AAD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609B1E36-7C08-9CED-3ACB-00E4E6FC0006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B7CA69-3CD6-1227-B24B-9493A602D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10" y="439205"/>
            <a:ext cx="10421922" cy="560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37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68118-4336-4EA5-CD7A-68E710E2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6BFF0670-1E38-7073-6CF6-18C193248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4CD80E78-FB33-6A86-8582-815103594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78980340-A87A-FE14-B51C-6644FB9885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F5A31A2-4C8C-B73F-2DE4-460C3E074717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79AD69E-D552-6F9F-FDED-C45EA5BFD420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FB1D91-C2B2-5CE8-E09F-0C5A7A632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31" y="2091447"/>
            <a:ext cx="11267577" cy="277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05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/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19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633374" y="625449"/>
            <a:ext cx="3077446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Proxy Pattern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8CC830-E7C8-2522-477B-4D9AC2ED7D6D}"/>
              </a:ext>
            </a:extLst>
          </p:cNvPr>
          <p:cNvSpPr txBox="1"/>
          <p:nvPr/>
        </p:nvSpPr>
        <p:spPr>
          <a:xfrm>
            <a:off x="570271" y="1248257"/>
            <a:ext cx="92641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Provide a surrogate or placeholder for another object to control access.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Types: </a:t>
            </a:r>
            <a:r>
              <a:rPr lang="en-US" sz="3200" noProof="0" dirty="0"/>
              <a:t>Virtual proxy (lazy loading), Protection proxy (security).</a:t>
            </a:r>
          </a:p>
        </p:txBody>
      </p:sp>
    </p:spTree>
    <p:extLst>
      <p:ext uri="{BB962C8B-B14F-4D97-AF65-F5344CB8AC3E}">
        <p14:creationId xmlns:p14="http://schemas.microsoft.com/office/powerpoint/2010/main" val="3714614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2E90-BBF7-5F06-8BB6-0881D78A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860C8108-525C-B925-4C7D-F524850F1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9E44A9F9-99F0-7444-6976-610DB33594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B900B882-E5C6-9B1E-8A53-02C05A1F62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B0A50CC-E739-8B54-8C5B-CABE28D5C87A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02EEA90-9A5C-CCEA-E105-64AE0648F05F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4B9472-5471-56FD-DE09-6E29497C49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74" y="8271"/>
            <a:ext cx="10645118" cy="684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452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657CC-BEBF-9C4F-BC6E-A3ED9529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73A582A0-0C8D-27B9-8AA3-503A17BD7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2E627A5E-B250-D575-B8A5-907BA60ACB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C6F13F69-F2A4-FD83-75D2-D8F8F9DAA6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07B3CAC-52D3-B5D5-2AA8-EE445F11E20E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7784FB0-AC52-D4CE-DA43-CE3AF78D8115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1C0CD1-8144-3F80-7D29-BCBC549EF9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883" y="1896894"/>
            <a:ext cx="11113189" cy="382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84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DB1D0-C460-F0D3-704A-16FB2E6E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459A67DE-5E54-DF60-5D46-BF158A499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DB33E96C-38C8-4FC7-A0AE-BC2B8D9B1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335B5EC0-FEF9-5F0E-06CA-FD36A96C41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05A8B66-B0A8-1929-9B13-6432C504E68B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5437C36-ACB4-FD57-853E-449ABF3295E3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20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5FC95817-681D-F091-D0FE-73212C516381}"/>
              </a:ext>
            </a:extLst>
          </p:cNvPr>
          <p:cNvSpPr txBox="1"/>
          <p:nvPr/>
        </p:nvSpPr>
        <p:spPr>
          <a:xfrm>
            <a:off x="633374" y="625449"/>
            <a:ext cx="6898427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Behavioral Patterns: Overview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CA0039-BA70-8E1E-9175-FC246784797D}"/>
              </a:ext>
            </a:extLst>
          </p:cNvPr>
          <p:cNvSpPr txBox="1"/>
          <p:nvPr/>
        </p:nvSpPr>
        <p:spPr>
          <a:xfrm>
            <a:off x="570271" y="1248257"/>
            <a:ext cx="92641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Goal: </a:t>
            </a:r>
            <a:r>
              <a:rPr lang="en-US" sz="3200" noProof="0" dirty="0"/>
              <a:t>Concerns algorithms and the assignment of responsibilities between objects.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Focus on how objects interact and distribute control.</a:t>
            </a:r>
          </a:p>
        </p:txBody>
      </p:sp>
    </p:spTree>
    <p:extLst>
      <p:ext uri="{BB962C8B-B14F-4D97-AF65-F5344CB8AC3E}">
        <p14:creationId xmlns:p14="http://schemas.microsoft.com/office/powerpoint/2010/main" val="935761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1FA5-7C6A-04A5-01D0-52247B4CC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9672861E-B673-B168-C199-61C9C8B0F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509921F9-A45A-622A-77C3-C7617FD4A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31686AF6-3B65-01DE-79EE-20849E4897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767121D-5AD1-4C38-2423-61648AA1AC69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DC91FF6-14CA-26F2-A25F-2DB7685A4C67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20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31DB597-A6E8-623F-9D5B-B102E69229FF}"/>
              </a:ext>
            </a:extLst>
          </p:cNvPr>
          <p:cNvSpPr txBox="1"/>
          <p:nvPr/>
        </p:nvSpPr>
        <p:spPr>
          <a:xfrm>
            <a:off x="633374" y="625449"/>
            <a:ext cx="3910494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Observer Pattern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818299-9454-5ACE-851D-F2C2974FD51E}"/>
              </a:ext>
            </a:extLst>
          </p:cNvPr>
          <p:cNvSpPr txBox="1"/>
          <p:nvPr/>
        </p:nvSpPr>
        <p:spPr>
          <a:xfrm>
            <a:off x="570271" y="1248257"/>
            <a:ext cx="926419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Define a one-to-many dependency so that when one object changes state, all dependents are notified.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Use case: </a:t>
            </a:r>
            <a:r>
              <a:rPr lang="en-US" sz="3200" noProof="0" dirty="0" err="1"/>
              <a:t>MVC</a:t>
            </a:r>
            <a:r>
              <a:rPr lang="en-US" sz="3200" noProof="0" dirty="0"/>
              <a:t> architectures, event-driven systems.</a:t>
            </a:r>
          </a:p>
        </p:txBody>
      </p:sp>
    </p:spTree>
    <p:extLst>
      <p:ext uri="{BB962C8B-B14F-4D97-AF65-F5344CB8AC3E}">
        <p14:creationId xmlns:p14="http://schemas.microsoft.com/office/powerpoint/2010/main" val="2863577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3C0C-E601-8AD1-5CE0-2C92D9C9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8675F887-81ED-3713-7512-6D242D149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4B5436C2-D5AB-5A24-84EC-DEA748EA0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CB1BD34D-1632-92EF-ADCA-72B448F27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7AD6B3B-C82D-152E-955D-9668EFD10538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5C276A8-A408-A137-C6EC-1157A3F75BB3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20477E0-B644-B433-F625-64BA84B40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570" y="-2325"/>
            <a:ext cx="9678736" cy="686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98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5A07-4790-704B-32F4-691F2271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7305C139-D626-27DF-4636-FC738DDD1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CCB71990-9C6A-5526-AA61-DF79FA77B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AA503913-261A-6835-F60B-6D8500FA0B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CCD9E24-EB48-4B48-D284-F981EF43085F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B7B49BC-610B-1796-0AC0-64B224AA9B18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9E66CB-E417-9F1B-3B65-71AC4B24E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688" y="1400784"/>
            <a:ext cx="9230347" cy="439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78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6408-047F-267E-F42A-C0C5D4DD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5D24D237-1EB9-FD17-3E32-50C5F6115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1954E908-BEAD-E928-2264-1DF87F0FA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046BDFB2-E9B9-6CE2-B3B2-03C079CFBC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AE4CC25-A765-4D2E-5E2B-70AC1C3A7EA6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BF52E9A9-9C44-05E4-1810-0F37E063B08A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21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D5BD1DF-5C0D-2D76-8AE7-3E19B569A125}"/>
              </a:ext>
            </a:extLst>
          </p:cNvPr>
          <p:cNvSpPr txBox="1"/>
          <p:nvPr/>
        </p:nvSpPr>
        <p:spPr>
          <a:xfrm>
            <a:off x="633374" y="625449"/>
            <a:ext cx="3696653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Strategy Pattern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386A35E-C621-14F1-5462-A86B228EF9F6}"/>
              </a:ext>
            </a:extLst>
          </p:cNvPr>
          <p:cNvSpPr txBox="1"/>
          <p:nvPr/>
        </p:nvSpPr>
        <p:spPr>
          <a:xfrm>
            <a:off x="516642" y="1570781"/>
            <a:ext cx="926419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Define a family of algorithms, encapsulate each one, and make them interchangeable.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Benefit: </a:t>
            </a:r>
            <a:r>
              <a:rPr lang="en-US" sz="3200" noProof="0" dirty="0"/>
              <a:t>Allows the algorithm to vary independently from the client that uses it.</a:t>
            </a:r>
          </a:p>
        </p:txBody>
      </p:sp>
    </p:spTree>
    <p:extLst>
      <p:ext uri="{BB962C8B-B14F-4D97-AF65-F5344CB8AC3E}">
        <p14:creationId xmlns:p14="http://schemas.microsoft.com/office/powerpoint/2010/main" val="15526587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25F3-6239-B0B5-E5C1-D34F2EC2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CD15A1DD-DE87-5B5A-E0E8-B25B7CEFB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61630868-6E1C-C1A7-5696-9D5DC7265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84BE505A-F9E3-3A48-B032-80911093E8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4F3B704-70D0-7EA9-5D16-CA0B49F96BFC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E0E240E-B668-D067-C780-D075575AD574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801977-B841-2E21-8AAE-C850496B7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126" y="153009"/>
            <a:ext cx="10387105" cy="663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19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D92A-CDBE-8DD2-9161-5D7EB2813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65BB531C-08F2-7ADC-6DC8-375708848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619B57D8-8FEA-D6FC-6B8C-0274BFF8B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EFA2AF3-F412-F6A5-C9E1-310A0C970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B9F5166-78AC-7C04-D70E-AAD4DEFED9C9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7DE68BA-00D6-D0F6-DF5E-624D8DD6F137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0B0030-AD70-A36F-B36E-081249078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337" y="1040860"/>
            <a:ext cx="9426636" cy="49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7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7B6D-ECC3-D2D6-725A-7A3A5871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7C9236C1-CDEA-BBD3-AAA4-38FCDD136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E4DD904A-ACC4-76C0-B7AB-E9ED4A518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15A134FD-3B27-D22D-DAE0-8FD7CCB23F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E787838-59EA-BC84-9018-261D50AE451E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4B2BBDD-C897-6977-4AE9-51A8D8D5E64B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22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5DD197C-5566-97FF-ABB6-7649622D75D9}"/>
              </a:ext>
            </a:extLst>
          </p:cNvPr>
          <p:cNvSpPr txBox="1"/>
          <p:nvPr/>
        </p:nvSpPr>
        <p:spPr>
          <a:xfrm>
            <a:off x="633374" y="625449"/>
            <a:ext cx="4176400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Command Pattern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BE2518-7EA1-3EFE-03A7-F36667EA52E4}"/>
              </a:ext>
            </a:extLst>
          </p:cNvPr>
          <p:cNvSpPr txBox="1"/>
          <p:nvPr/>
        </p:nvSpPr>
        <p:spPr>
          <a:xfrm>
            <a:off x="570271" y="1248257"/>
            <a:ext cx="926419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Encapsulate a request as an object, thereby letting you parameterize clients with different requests.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Application: </a:t>
            </a:r>
            <a:r>
              <a:rPr lang="en-US" sz="3200" noProof="0" dirty="0"/>
              <a:t>Undo/redo functionality, job queues.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3600" noProof="0" dirty="0"/>
          </a:p>
        </p:txBody>
      </p:sp>
    </p:spTree>
    <p:extLst>
      <p:ext uri="{BB962C8B-B14F-4D97-AF65-F5344CB8AC3E}">
        <p14:creationId xmlns:p14="http://schemas.microsoft.com/office/powerpoint/2010/main" val="33498953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ABE9-0EF8-26FC-6BDA-957F26C2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B4B79FDF-7658-87C4-CB34-58BD73F85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3D5B232C-7BD8-5DA8-8F9C-D84828E31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A2075D50-02EA-4573-BD2D-21CEB0280E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C5CF945-625A-57E7-7F15-9D35D80BB413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E7EF222-47C2-FE9C-B8EA-07E454F9D158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806029-5E78-89EF-9A5A-DE50D8BD5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50" y="94754"/>
            <a:ext cx="7697209" cy="659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15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7ACB-DD87-9962-AE25-0E3ECC25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1EACAE2E-BB9F-DEA6-AC9E-B49C21188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E78C6C64-78D4-307F-4123-A09708A3E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A7436239-CB0E-7F6D-F064-51A7FC2FDE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039A440-2E02-165F-D3AC-6253F33660EB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6CF104A-8727-4FAB-32CD-74EC4B9FE734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0ED6A6-033B-DC60-FFF4-4474F04FA6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29" y="1721797"/>
            <a:ext cx="10131557" cy="389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298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C73B-2392-DD37-5855-00D9AD36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6E8CD60D-2084-375F-8F41-8A069DAEF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98EC1065-2624-CA40-1721-CF7C45241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1BB27BA-4CA7-9DF2-E45B-6B893A124F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39F6155-32B1-1BD9-D2A2-5DB4B2A89776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83E154E-52C8-3082-D4AB-D191949B0AD6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23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2BB1762-55A6-E39E-AF62-59C7491C84AF}"/>
              </a:ext>
            </a:extLst>
          </p:cNvPr>
          <p:cNvSpPr txBox="1"/>
          <p:nvPr/>
        </p:nvSpPr>
        <p:spPr>
          <a:xfrm>
            <a:off x="633374" y="625449"/>
            <a:ext cx="2983189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State Pattern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1D37D1-341F-9331-6D70-F57C1A7C528A}"/>
              </a:ext>
            </a:extLst>
          </p:cNvPr>
          <p:cNvSpPr txBox="1"/>
          <p:nvPr/>
        </p:nvSpPr>
        <p:spPr>
          <a:xfrm>
            <a:off x="465372" y="1299917"/>
            <a:ext cx="92641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Allow an object to alter its behavior when its internal state changes.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Benefit: </a:t>
            </a:r>
            <a:r>
              <a:rPr lang="en-US" sz="3200" noProof="0" dirty="0"/>
              <a:t>Avoids massive if-else or switch statements.</a:t>
            </a:r>
          </a:p>
        </p:txBody>
      </p:sp>
    </p:spTree>
    <p:extLst>
      <p:ext uri="{BB962C8B-B14F-4D97-AF65-F5344CB8AC3E}">
        <p14:creationId xmlns:p14="http://schemas.microsoft.com/office/powerpoint/2010/main" val="32721981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9D90-B3D1-2923-4CF4-4E9796E6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A375DD1E-9287-ECA7-E65D-7B65C2972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83D76B60-146A-02E4-CC7C-4B00BE203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A31929B2-E1F8-BABF-DA54-A2260C6AD9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64C3681-EDBE-21D5-BE0F-A7E4DA1B9A3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0AEDAB2-DB98-5C4D-92C2-A00395C080DD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D47DA8-0215-E606-676D-336045935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3605" y="-16796"/>
            <a:ext cx="5261127" cy="684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36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08C16-92AF-B37A-379F-BEDFFFF6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C55E512C-CA1C-2C75-95A0-1D6F63E6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D46585AE-2C04-A954-96B0-457BBEE45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923F746A-1130-C5E6-12E5-EB1FF684F3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8585F17-5DCC-3D07-1312-A1C7E548E527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67F4758-64F8-74C2-ED75-F642264EDF96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2FB67B-49F1-FE27-F157-CF3E8B061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966" y="2266545"/>
            <a:ext cx="8666000" cy="320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17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047C-7942-1F8C-3C58-E28E65F2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8660C9D-927A-0F95-64A2-04FE7264E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2E13FFFC-FC41-A20A-DE4E-6D0A97C89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8D72421A-E77D-A7B1-619D-8C3930DEE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26531A2-7A05-7F99-63CD-3DC8E3C563EE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67988965-43F5-DFB2-ED99-DF39D386953F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24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1A9F74B8-E29F-DC5D-D7CF-2CD9E9F7CF4C}"/>
              </a:ext>
            </a:extLst>
          </p:cNvPr>
          <p:cNvSpPr txBox="1"/>
          <p:nvPr/>
        </p:nvSpPr>
        <p:spPr>
          <a:xfrm>
            <a:off x="633374" y="625449"/>
            <a:ext cx="4080861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Template Method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8BE812-BBB0-5BD1-7DCD-86EEE311FA41}"/>
              </a:ext>
            </a:extLst>
          </p:cNvPr>
          <p:cNvSpPr txBox="1"/>
          <p:nvPr/>
        </p:nvSpPr>
        <p:spPr>
          <a:xfrm>
            <a:off x="570271" y="1248257"/>
            <a:ext cx="92641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Define the skeleton of an algorithm in an operation, deferring some steps to subclasses.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Use case: </a:t>
            </a:r>
            <a:r>
              <a:rPr lang="en-US" sz="3200" noProof="0" dirty="0"/>
              <a:t>Frameworks where core logic is fixed, but specific steps vary.</a:t>
            </a:r>
          </a:p>
        </p:txBody>
      </p:sp>
    </p:spTree>
    <p:extLst>
      <p:ext uri="{BB962C8B-B14F-4D97-AF65-F5344CB8AC3E}">
        <p14:creationId xmlns:p14="http://schemas.microsoft.com/office/powerpoint/2010/main" val="25035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EE43-8627-83A9-C6B0-1C4ADAB87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5F037308-8508-08B9-2862-214585504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12673DC8-627A-13BA-39D2-90CFE4C55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EE6DF222-D5DB-657A-F064-4EA9C7A79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4ABB84B-DCA5-977C-CCBE-FA5E6F43F5B1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E098940-384E-61E7-E13F-1D0B556E0509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FA2E3B-5BAF-65C5-8D8F-CA7E64A36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90" y="99633"/>
            <a:ext cx="9895143" cy="641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906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3064-AE7D-9B31-AF38-A0D6F457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B1E45D9E-5488-C38C-DCB5-2C80E2ABA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FB9CC1E6-AC85-9A94-9A18-ADF100019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1FFB9A33-DE90-F288-0195-C8F0F33B76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1316589-FE17-4D9E-A3F9-C707E874BB1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33F31A7-7D95-7B1E-3376-E40F92E70F39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997ADB4-3366-227F-882E-C1ED88233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7769" y="2996120"/>
            <a:ext cx="9723045" cy="232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147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AF6E1-3650-1910-5109-93B33851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22681BA3-1D75-FA34-74BC-16545A149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02D604D5-7EE4-291B-DE14-2145945B8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DE94BDF4-D0FE-4923-DECF-6A9BD6D5A2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8B1B9B3-7847-6407-6F44-6C38B5B648D5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864EB4E-C72F-9615-08A0-20C0564314E2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25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886C137F-C971-77EA-97CE-0A1BF4A0F9F8}"/>
              </a:ext>
            </a:extLst>
          </p:cNvPr>
          <p:cNvSpPr txBox="1"/>
          <p:nvPr/>
        </p:nvSpPr>
        <p:spPr>
          <a:xfrm>
            <a:off x="633374" y="625449"/>
            <a:ext cx="3548472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Iterator Pattern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73108E9-1982-D37F-1B5B-4D2A6D98DD06}"/>
              </a:ext>
            </a:extLst>
          </p:cNvPr>
          <p:cNvSpPr txBox="1"/>
          <p:nvPr/>
        </p:nvSpPr>
        <p:spPr>
          <a:xfrm>
            <a:off x="570271" y="1248257"/>
            <a:ext cx="103427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Problem: </a:t>
            </a:r>
            <a:r>
              <a:rPr lang="en-US" sz="3200" noProof="0" dirty="0"/>
              <a:t>Provide a way to access the elements of an aggregate object sequentially without exposing its underlying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4549042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D004-177D-C78A-8334-2EF46007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A50C846-921B-11D1-4E2B-49EFC94AA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4D4512DA-A7B4-C35E-E4FF-BA85C4541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CA4B3C73-AA49-5538-E2B6-46DEDDD90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8FA660E2-3F96-0D2E-C6A8-7ED1A6BE73B9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A7FF4041-30FC-C899-5563-6F55DD9799A9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F3E506-4268-A217-4FCF-019C935D4C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7990" y="302374"/>
            <a:ext cx="8860606" cy="538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47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327-F91C-0673-8A3B-4D46B01E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7CDE201A-66E5-E941-D341-9E0888AA7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96C861A4-F42E-6D86-B6DF-D31356A8E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98E182EA-2A3D-1D4A-C0C0-999EFCB6BA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87630CB-94DD-9819-957C-45D05A5A461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69500B2-3612-7FDB-E3DA-2E610F24A2B5}"/>
              </a:ext>
            </a:extLst>
          </p:cNvPr>
          <p:cNvSpPr txBox="1"/>
          <p:nvPr/>
        </p:nvSpPr>
        <p:spPr>
          <a:xfrm>
            <a:off x="11353800" y="6325590"/>
            <a:ext cx="798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9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E03D52-AAC0-2ACF-8E09-D00CACB04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488" y="1186775"/>
            <a:ext cx="9729857" cy="373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546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0472-3704-832D-7EB3-08AD94F4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5E1FD720-730B-47DB-C3C0-89A430A5C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21D2057D-BD1E-064A-C376-1F478FB21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CDDDBF29-1B04-3349-FE6C-31ADDF8508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8F8B6AC-F7E2-DF58-966E-B32945E1BAA2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C35810F-421B-72AA-0658-7B8BD8EC464F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25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4BD55F5B-E7F5-EB9B-45CB-AD596C5BAD64}"/>
              </a:ext>
            </a:extLst>
          </p:cNvPr>
          <p:cNvSpPr txBox="1"/>
          <p:nvPr/>
        </p:nvSpPr>
        <p:spPr>
          <a:xfrm>
            <a:off x="633374" y="625449"/>
            <a:ext cx="5112297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Challenges and Pitfalls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C60C30-5814-F16A-133B-55A56890F16B}"/>
              </a:ext>
            </a:extLst>
          </p:cNvPr>
          <p:cNvSpPr txBox="1"/>
          <p:nvPr/>
        </p:nvSpPr>
        <p:spPr>
          <a:xfrm>
            <a:off x="506915" y="1332047"/>
            <a:ext cx="1034273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Over-engineering: </a:t>
            </a:r>
            <a:r>
              <a:rPr lang="en-US" sz="3200" noProof="0" dirty="0"/>
              <a:t>Using a pattern when a simple solution suffices.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Complexity: </a:t>
            </a:r>
            <a:r>
              <a:rPr lang="en-US" sz="3200" noProof="0" dirty="0"/>
              <a:t>Patterns add abstractions that can increase the learning curve for new developers.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noProof="0" dirty="0"/>
              <a:t>Context Sensitivity: </a:t>
            </a:r>
            <a:r>
              <a:rPr lang="en-US" sz="3200" noProof="0" dirty="0"/>
              <a:t>A pattern that works in one language (e.g., Java) might be redundant in another (e.g., Python/Functional languages).</a:t>
            </a:r>
          </a:p>
        </p:txBody>
      </p:sp>
    </p:spTree>
    <p:extLst>
      <p:ext uri="{BB962C8B-B14F-4D97-AF65-F5344CB8AC3E}">
        <p14:creationId xmlns:p14="http://schemas.microsoft.com/office/powerpoint/2010/main" val="17051516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D5136-AB20-42FD-8C40-524C346E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566C4197-B98C-FD4E-0E0E-ED3120898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614B9AA7-FFB3-CB6D-9293-EE8170B90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7E762105-6649-B45F-3E62-5A95A60F5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9CCA6AB-354A-92D8-6FB9-D1A56F7807A8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48E0DCB-684C-4E67-28DA-0615A31AEB21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25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6FEF3AA-2F69-B192-8591-19891DC44EDA}"/>
              </a:ext>
            </a:extLst>
          </p:cNvPr>
          <p:cNvSpPr txBox="1"/>
          <p:nvPr/>
        </p:nvSpPr>
        <p:spPr>
          <a:xfrm>
            <a:off x="633374" y="625449"/>
            <a:ext cx="10282174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Patterns and Modern Software Development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EC7A65-0E90-FEB3-74F4-3EEEAF0D3300}"/>
              </a:ext>
            </a:extLst>
          </p:cNvPr>
          <p:cNvSpPr txBox="1"/>
          <p:nvPr/>
        </p:nvSpPr>
        <p:spPr>
          <a:xfrm>
            <a:off x="570271" y="1248257"/>
            <a:ext cx="1034273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How patterns adapt to Cloud-native architectures (Microservices patterns).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Patterns in reactive programming.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Evolution from class-based patterns to component-based thinking.</a:t>
            </a:r>
          </a:p>
        </p:txBody>
      </p:sp>
    </p:spTree>
    <p:extLst>
      <p:ext uri="{BB962C8B-B14F-4D97-AF65-F5344CB8AC3E}">
        <p14:creationId xmlns:p14="http://schemas.microsoft.com/office/powerpoint/2010/main" val="24167343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9063-69F5-EB08-4C8C-108654655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66DB108C-D9DE-9E4C-96EB-6827FD008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F83755BA-2995-1965-C5E3-60894A5FDE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C7E803A6-3BBD-F752-FDEC-2024E67C83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D43B8B6-7C7B-5EAB-05E0-E0CB3855580C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5F88119-1F12-74A7-9516-A93C35F6652E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25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8AF764F-CFC4-A69D-1CAE-05D3C5E18D9E}"/>
              </a:ext>
            </a:extLst>
          </p:cNvPr>
          <p:cNvSpPr txBox="1"/>
          <p:nvPr/>
        </p:nvSpPr>
        <p:spPr>
          <a:xfrm>
            <a:off x="633374" y="625449"/>
            <a:ext cx="2507097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Conclusion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E84CC30-A9E5-88E0-CCBF-F0BFD4A58463}"/>
              </a:ext>
            </a:extLst>
          </p:cNvPr>
          <p:cNvSpPr txBox="1"/>
          <p:nvPr/>
        </p:nvSpPr>
        <p:spPr>
          <a:xfrm>
            <a:off x="570271" y="1248257"/>
            <a:ext cx="1034273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Design patterns are a tool, not a dogma.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Understand the intent of the pattern rather than memorizing the class diagram.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noProof="0" dirty="0"/>
              <a:t>Practice: The best way to learn is to refactor existing code.</a:t>
            </a:r>
          </a:p>
        </p:txBody>
      </p:sp>
    </p:spTree>
    <p:extLst>
      <p:ext uri="{BB962C8B-B14F-4D97-AF65-F5344CB8AC3E}">
        <p14:creationId xmlns:p14="http://schemas.microsoft.com/office/powerpoint/2010/main" val="5922341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82E4-354A-A4CB-625E-7335E5BC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4E747F25-87F3-A4CF-1183-555D19327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Image">
            <a:extLst>
              <a:ext uri="{FF2B5EF4-FFF2-40B4-BE49-F238E27FC236}">
                <a16:creationId xmlns:a16="http://schemas.microsoft.com/office/drawing/2014/main" id="{46B19423-611E-82F5-805C-0A010D542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32" y="0"/>
            <a:ext cx="1100328" cy="577596"/>
          </a:xfrm>
          <a:prstGeom prst="rect">
            <a:avLst/>
          </a:prstGeom>
        </p:spPr>
      </p:pic>
      <p:pic>
        <p:nvPicPr>
          <p:cNvPr id="10" name="Image">
            <a:extLst>
              <a:ext uri="{FF2B5EF4-FFF2-40B4-BE49-F238E27FC236}">
                <a16:creationId xmlns:a16="http://schemas.microsoft.com/office/drawing/2014/main" id="{37D7267E-2094-7CDB-6651-EFF46444F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080"/>
            <a:ext cx="12192000" cy="914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EDB28E8-EB2C-603B-6E9A-074D1F34A463}"/>
              </a:ext>
            </a:extLst>
          </p:cNvPr>
          <p:cNvSpPr/>
          <p:nvPr/>
        </p:nvSpPr>
        <p:spPr>
          <a:xfrm>
            <a:off x="11091672" y="6086856"/>
            <a:ext cx="600456" cy="600456"/>
          </a:xfrm>
          <a:custGeom>
            <a:avLst/>
            <a:gdLst/>
            <a:ahLst/>
            <a:cxnLst/>
            <a:rect l="l" t="t" r="r" b="b"/>
            <a:pathLst>
              <a:path w="600456" h="600456">
                <a:moveTo>
                  <a:pt x="0" y="300228"/>
                </a:moveTo>
                <a:cubicBezTo>
                  <a:pt x="0" y="134417"/>
                  <a:pt x="134366" y="0"/>
                  <a:pt x="300228" y="0"/>
                </a:cubicBezTo>
                <a:cubicBezTo>
                  <a:pt x="466090" y="0"/>
                  <a:pt x="600456" y="134417"/>
                  <a:pt x="600456" y="300228"/>
                </a:cubicBezTo>
                <a:cubicBezTo>
                  <a:pt x="600456" y="466039"/>
                  <a:pt x="466090" y="600456"/>
                  <a:pt x="300228" y="600456"/>
                </a:cubicBezTo>
                <a:cubicBezTo>
                  <a:pt x="134366" y="600456"/>
                  <a:pt x="0" y="466039"/>
                  <a:pt x="0" y="300228"/>
                </a:cubicBezTo>
                <a:close/>
              </a:path>
            </a:pathLst>
          </a:custGeom>
          <a:solidFill>
            <a:srgbClr val="8A434F"/>
          </a:solidFill>
        </p:spPr>
        <p:txBody>
          <a:bodyPr wrap="square" lIns="0" tIns="0" rIns="0" bIns="0" rtlCol="0">
            <a:noAutofit/>
          </a:bodyPr>
          <a:lstStyle/>
          <a:p>
            <a:endParaRPr lang="en-US" noProof="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A61AA1C8-4498-D9AC-0E9F-7FC3EEAEC0D3}"/>
              </a:ext>
            </a:extLst>
          </p:cNvPr>
          <p:cNvSpPr txBox="1"/>
          <p:nvPr/>
        </p:nvSpPr>
        <p:spPr>
          <a:xfrm>
            <a:off x="11353800" y="6325590"/>
            <a:ext cx="15965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1200" spc="10" noProof="0" dirty="0">
                <a:solidFill>
                  <a:srgbClr val="FFFFFF"/>
                </a:solidFill>
                <a:latin typeface="Calibri Light"/>
                <a:cs typeface="Calibri Light"/>
              </a:rPr>
              <a:t>31</a:t>
            </a:r>
            <a:endParaRPr lang="en-US" sz="1200" noProof="0" dirty="0">
              <a:latin typeface="Calibri Light"/>
              <a:cs typeface="Calibri Ligh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7D043271-8D09-2C2F-EDC7-129B4D0E9A64}"/>
              </a:ext>
            </a:extLst>
          </p:cNvPr>
          <p:cNvSpPr txBox="1"/>
          <p:nvPr/>
        </p:nvSpPr>
        <p:spPr>
          <a:xfrm>
            <a:off x="2287076" y="2619625"/>
            <a:ext cx="6562694" cy="6771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400" noProof="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364120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1164</TotalTime>
  <Words>1077</Words>
  <Application>Microsoft Office PowerPoint</Application>
  <PresentationFormat>Panorámica</PresentationFormat>
  <Paragraphs>280</Paragraphs>
  <Slides>62</Slides>
  <Notes>61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68" baseType="lpstr">
      <vt:lpstr>Arial</vt:lpstr>
      <vt:lpstr>Calibri</vt:lpstr>
      <vt:lpstr>Calibri Light</vt:lpstr>
      <vt:lpstr>Corbel</vt:lpstr>
      <vt:lpstr>Helvetica Neue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david de la antonia</dc:creator>
  <cp:lastModifiedBy>David de la Antonia López</cp:lastModifiedBy>
  <cp:revision>88</cp:revision>
  <dcterms:created xsi:type="dcterms:W3CDTF">2023-08-31T10:53:19Z</dcterms:created>
  <dcterms:modified xsi:type="dcterms:W3CDTF">2026-07-11T16:23:57Z</dcterms:modified>
</cp:coreProperties>
</file>